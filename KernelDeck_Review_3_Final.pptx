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1DA5B-7ECB-4079-5F9A-DBB1ADDF4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D0A0F-EFA8-510E-0B8E-031BB3D2F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18411-667E-E62B-9634-C2CDB5A6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96C8-AEE6-A6AC-F741-E3E607B29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E5136-3349-C65A-007E-5FFA2093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79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A47E0-3479-1FFF-66CB-8ADBF780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E71B6-19B8-2973-14EF-48BED682F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54A51-66C1-78EC-2C24-D543F3E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6948C-8336-EF66-BDEA-CB8A7403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09E18-295E-A955-D4B6-A4454652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625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D7CE-D7C5-06EB-E006-01F801EE7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98467-82C6-2249-BE6A-176ABC94A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38352-A9F1-198B-4A46-B4697B985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6F1E1-673F-07A0-5134-AC691EE42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4022E-8AE6-E877-0346-2CCF4B75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0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5051-2C8A-542C-0B82-70D504CE4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B2E66-6CF9-629E-04E0-2569039C7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BA5C8-A563-677F-3698-079EBAE0D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3053B-7706-B504-1968-ECD89F72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F4D17-ABE8-60E5-382C-4B0EE4386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83080-DE80-FE40-2738-6A09A25C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189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5AE9-E4A6-FEBB-0E72-844D0A7A3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C9F35-3135-13A4-578A-D469A780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DCBAA-8A20-35F6-D6AB-60052DC6F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83836A-E936-891F-62D8-E6CB86335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225731-DC9A-FA4A-487D-38B6DE6A89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16FD5E-CB44-5846-EEA1-D1C8EA68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8C876C-7FA4-0F77-EB25-C60B38EA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E98D9-0355-2F19-FFB3-4A8A660E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34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CD9C3-14BF-2339-7C70-9B112E44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431708-9339-693B-EB09-EE1495DC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7F3EC-45D6-9C39-CFB5-1A70F5820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5E030-B9FE-3271-3B62-7D2795932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090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90E6D-EE73-B225-FE42-436FE24B5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B46A4-E200-04FD-C06E-86445B1EC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37B18-6D51-B4B9-631C-1A570CA8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076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5808-F16B-15F6-62C5-42855053E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32DCD-9FC9-DC87-704D-1B1B8845C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531E-69C7-8457-29A2-45BAE598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6F79D-BFC8-87C1-E768-BA1CC9CED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096D9-A490-154E-7FAE-DC37BD514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565B4-C9A8-BCB7-0DED-CA00149D4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098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5190-91FB-C962-60DA-32C8D1FC8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64B1AA-0120-E4C6-93F2-80B3CBC5CD0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FD83A-5CDA-8BE9-FF98-4998E4129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2CA48-F229-A07D-9C6D-2E7D0E6A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C3818-E1E4-257F-6759-ECF86225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12398-DA6E-0F1B-142C-8BB8504E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09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88704-F939-D9E4-C884-1C33A7F9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2B525-4FA9-E399-248F-A35CBFD41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9D146-5487-230E-0C7E-BFD028C8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D055B-F109-7613-EB54-94C3A986E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92858-E304-2069-23F1-BA0DB588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680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D0AB0-8D90-E6AA-E36C-56AFD3E0D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DD837-5E29-D9CE-AE2F-94CDBEF1D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D7E2-BD66-A2CA-E7B0-53A8C7403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0201-7B29-5046-F53D-A92B3E59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695AF-C6B6-550F-8244-9859DE1F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4879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D426D-04E8-09FB-B415-1C2AB068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6019E-9E60-CC9C-B932-D09FBD203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FAF81-9BA7-9F9E-6731-7FBA6413D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6F043-7BB4-DBBE-6ABC-3E51496B1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A5E84-EDC2-9BF8-F37C-75EFF9198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378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6419-37C7-8452-6E39-C378985E0E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2563EB"/>
                </a:solidFill>
                <a:latin typeface="Calibri"/>
              </a:defRPr>
            </a:pPr>
            <a:r>
              <a:t>KernelDeck</a:t>
            </a:r>
          </a:p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Out-of-Band Physical Control Plane &amp; Hardware Safety Interlock for Autonomous AI Development Agents</a:t>
            </a:r>
          </a:p>
          <a:p>
            <a:pPr algn="ctr">
              <a:defRPr sz="1500" b="1">
                <a:solidFill>
                  <a:srgbClr val="DC2626"/>
                </a:solidFill>
                <a:latin typeface="Calibri"/>
              </a:defRPr>
            </a:pPr>
            <a:r>
              <a:t>Track 2: Agentic AI  |  Problem 3: Simulated Consequences Before Real 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0FECA-A7D1-3CF5-F9D7-5F0E475BE9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Team: KernelDeck</a:t>
            </a:r>
          </a:p>
          <a:p>
            <a:pPr algn="ctr">
              <a:defRPr sz="1300">
                <a:solidFill>
                  <a:srgbClr val="334155"/>
                </a:solidFill>
                <a:latin typeface="Calibri"/>
              </a:defRPr>
            </a:pPr>
            <a:r>
              <a:t>Sanchit Gupta (25BCE0282)  —  Proxy &amp; Security Architecture</a:t>
            </a:r>
          </a:p>
          <a:p>
            <a:pPr algn="ctr">
              <a:defRPr sz="1300">
                <a:solidFill>
                  <a:srgbClr val="334155"/>
                </a:solidFill>
                <a:latin typeface="Calibri"/>
              </a:defRPr>
            </a:pPr>
            <a:r>
              <a:t>Prisha Tyagi (25BCE0297)  —  Firmware &amp; Hardware Interlock</a:t>
            </a:r>
          </a:p>
          <a:p>
            <a:pPr algn="ctr">
              <a:defRPr sz="1300">
                <a:solidFill>
                  <a:srgbClr val="334155"/>
                </a:solidFill>
                <a:latin typeface="Calibri"/>
              </a:defRPr>
            </a:pPr>
            <a:r>
              <a:t>Pushpanvitha P (25BCB0081)  —  Agent CLI &amp; Execution Boundary</a:t>
            </a:r>
          </a:p>
          <a:p>
            <a:pPr algn="ctr">
              <a:defRPr sz="1300">
                <a:solidFill>
                  <a:srgbClr val="334155"/>
                </a:solidFill>
                <a:latin typeface="Calibri"/>
              </a:defRPr>
            </a:pPr>
            <a:r>
              <a:t>Divyadarshini Lakshminarayanan (25BCB0120)  —  Dashboard &amp; Telemetry Stream</a:t>
            </a:r>
          </a:p>
          <a:p>
            <a:pPr algn="ctr">
              <a:defRPr sz="1300">
                <a:solidFill>
                  <a:srgbClr val="334155"/>
                </a:solidFill>
                <a:latin typeface="Calibri"/>
              </a:defRPr>
            </a:pPr>
            <a:r>
              <a:t>M Sarvesh (25BEC0140)  —  Integration, Benchmarks &amp; Safety Validation</a:t>
            </a:r>
          </a:p>
        </p:txBody>
      </p:sp>
    </p:spTree>
    <p:extLst>
      <p:ext uri="{BB962C8B-B14F-4D97-AF65-F5344CB8AC3E}">
        <p14:creationId xmlns:p14="http://schemas.microsoft.com/office/powerpoint/2010/main" val="3025200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9B0D8-705C-F785-CE62-868A6F741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A09C3-B682-F5BE-31DB-A8285188D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Context: </a:t>
            </a:r>
            <a:r>
              <a:rPr sz="1500" b="0">
                <a:solidFill>
                  <a:srgbClr val="334155"/>
                </a:solidFill>
                <a:latin typeface="Calibri"/>
              </a:rPr>
              <a:t>Autonomous AI coding agents (Claude Code, Cursor, Devin) now independently execute terminal commands, modify codebases, and interact with cloud resources.</a:t>
            </a:r>
            <a:endParaRPr lang="en-IN"/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The Critical Problem — No Consequence Boundary: </a:t>
            </a:r>
            <a:r>
              <a:rPr sz="1500" b="0">
                <a:solidFill>
                  <a:srgbClr val="334155"/>
                </a:solidFill>
                <a:latin typeface="Calibri"/>
              </a:rPr>
              <a:t>High-stakes operations (e.g. 'rm -rf ./database', destructive database drops, runaway API token loops) execute without physical blast-radius evaluation. Software agents lack physical consequence perception.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The 'Key Under the Doormat' Vulnerability: </a:t>
            </a:r>
            <a:r>
              <a:rPr sz="1400" b="0">
                <a:solidFill>
                  <a:srgbClr val="334155"/>
                </a:solidFill>
                <a:latin typeface="Calibri"/>
              </a:rPr>
              <a:t>Storing production credentials in local .env files exposes high-privilege keys. A compromised agent subshell or prompt injection can leak secrets and act unsupervised.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Software Dashboards &amp; Modals Fail: </a:t>
            </a:r>
            <a:r>
              <a:rPr sz="1400" b="0">
                <a:solidFill>
                  <a:srgbClr val="334155"/>
                </a:solidFill>
                <a:latin typeface="Calibri"/>
              </a:rPr>
              <a:t>On-screen IDE popups and modal confirmation dialogs get buried under active windows, can be auto-dismissed by scripts, or bypassed within the same user permission context.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Project Objectives: </a:t>
            </a:r>
            <a:r>
              <a:rPr sz="1500" b="0">
                <a:solidFill>
                  <a:srgbClr val="334155"/>
                </a:solidFill>
                <a:latin typeface="Calibri"/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1. Out-of-Band Physical Authority: </a:t>
            </a:r>
            <a:r>
              <a:rPr sz="1400" b="0">
                <a:solidFill>
                  <a:srgbClr val="334155"/>
                </a:solidFill>
                <a:latin typeface="Calibri"/>
              </a:rPr>
              <a:t>Enforce a mandatory physical tactile button press (ALLOW/KILL) on an external microcontroller before privileged commands can execute.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2. Zero-Trust Credential Isolation: </a:t>
            </a:r>
            <a:r>
              <a:rPr sz="1400" b="0">
                <a:solidFill>
                  <a:srgbClr val="334155"/>
                </a:solidFill>
                <a:latin typeface="Calibri"/>
              </a:rPr>
              <a:t>Relocate API keys into a secure proxy vault; developer machines only hold non-privileged dummy tokens.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3. Strict Fail-Closed Security: </a:t>
            </a:r>
            <a:r>
              <a:rPr sz="1400" b="0">
                <a:solidFill>
                  <a:srgbClr val="334155"/>
                </a:solidFill>
                <a:latin typeface="Calibri"/>
              </a:rPr>
              <a:t>Guarantee 100% hardware isolation (GPIO 27 relay isolated at 0V) whenever hardware disconnects or times out.</a:t>
            </a:r>
          </a:p>
        </p:txBody>
      </p:sp>
    </p:spTree>
    <p:extLst>
      <p:ext uri="{BB962C8B-B14F-4D97-AF65-F5344CB8AC3E}">
        <p14:creationId xmlns:p14="http://schemas.microsoft.com/office/powerpoint/2010/main" val="3476461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C9E2-B17D-B1BA-9E76-A93B53C48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&amp; Key 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CC1BC-FF59-B4F2-2FB1-4F8A3EA28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45920"/>
            <a:ext cx="6217920" cy="475488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The KernelDeck Solution: </a:t>
            </a:r>
            <a:r>
              <a:rPr sz="1400" b="0">
                <a:solidFill>
                  <a:srgbClr val="334155"/>
                </a:solidFill>
                <a:latin typeface="Calibri"/>
              </a:rPr>
              <a:t>A dual-layer security control plane combining an intelligent, transparent API proxy with a dedicated desktop hardware console (ESP32 + 2.8" SPI TFT + physical buttons).</a:t>
            </a:r>
            <a:endParaRPr lang="en-IN"/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Key Architectural Innovations: </a:t>
            </a:r>
            <a:r>
              <a:rPr sz="1400" b="0">
                <a:solidFill>
                  <a:srgbClr val="334155"/>
                </a:solidFill>
                <a:latin typeface="Calibri"/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Out-of-Band Physical Isolation: </a:t>
            </a:r>
            <a:r>
              <a:rPr sz="1300" b="0">
                <a:solidFill>
                  <a:srgbClr val="334155"/>
                </a:solidFill>
                <a:latin typeface="Calibri"/>
              </a:rPr>
              <a:t>"You cannot code-review your way out of a locked door." The safety boundary is enforced in hardware silicon and physical copper (GPIO 27 relay), unreachable by compromised host software.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Transparent In-Flight Request Freezing: </a:t>
            </a:r>
            <a:r>
              <a:rPr sz="1300" b="0">
                <a:solidFill>
                  <a:srgbClr val="334155"/>
                </a:solidFill>
                <a:latin typeface="Calibri"/>
              </a:rPr>
              <a:t>The proxy pauses the agent's HTTP connection mid-flight upon detecting a risky pattern. Safe read operations pass at wire speed (&lt;50 ms); destructive operations halt until human resolution.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Physical Tactical Authority: </a:t>
            </a:r>
            <a:r>
              <a:rPr sz="1300" b="0">
                <a:solidFill>
                  <a:srgbClr val="334155"/>
                </a:solidFill>
                <a:latin typeface="Calibri"/>
              </a:rPr>
              <a:t>Developers inspect exact command parameters, risk level (CRITICAL), and cost on the deck, then physically press ALLOW (GPIO 12) or KILL (GPIO 14).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Glanceable Pixel-Art Human State Engine: </a:t>
            </a:r>
            <a:r>
              <a:rPr sz="1300" b="0">
                <a:solidFill>
                  <a:srgbClr val="334155"/>
                </a:solidFill>
                <a:latin typeface="Calibri"/>
              </a:rPr>
              <a:t>Retro 16-bit Ice Bear states (Idle Clock, 30s Countdown, Post-Kill Cleave) provide intuitive, zero-cognitive-overhead status awareness.</a:t>
            </a:r>
          </a:p>
        </p:txBody>
      </p:sp>
      <p:pic>
        <p:nvPicPr>
          <p:cNvPr id="4" name="Picture 3" descr="hardware_screens_t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011680"/>
            <a:ext cx="4480560" cy="212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5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6227-3DEA-8C7C-2074-A104BF076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5CFC2-F176-E949-9858-C07C5694E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45920"/>
            <a:ext cx="5669280" cy="475488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Four-Tier Distributed Architecture: </a:t>
            </a:r>
            <a:r>
              <a:rPr sz="1400" b="0">
                <a:solidFill>
                  <a:srgbClr val="334155"/>
                </a:solidFill>
                <a:latin typeface="Calibri"/>
              </a:rPr>
              <a:t/>
            </a:r>
            <a:endParaRPr lang="en-IN"/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1. Agent CLI (Python 3.11): </a:t>
            </a:r>
            <a:r>
              <a:rPr sz="1300" b="0">
                <a:solidFill>
                  <a:srgbClr val="334155"/>
                </a:solidFill>
                <a:latin typeface="Calibri"/>
              </a:rPr>
              <a:t>Autonomous terminal development tool communicating with local proxy endpoint; catches structured hardware error envelopes.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2. Security Proxy (Node.js): </a:t>
            </a:r>
            <a:r>
              <a:rPr sz="1300" b="0">
                <a:solidFill>
                  <a:srgbClr val="334155"/>
                </a:solidFill>
                <a:latin typeface="Calibri"/>
              </a:rPr>
              <a:t>Ingress vault managing policy denylists, $2.50 spend ceiling, 30s in-memory hold pool, and WebSocket multiplexer.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3. ESP32 Hardware Deck (Firmware): </a:t>
            </a:r>
            <a:r>
              <a:rPr sz="1300" b="0">
                <a:solidFill>
                  <a:srgbClr val="334155"/>
                </a:solidFill>
                <a:latin typeface="Calibri"/>
              </a:rPr>
              <a:t>ESP32 microcontroller (240MHz) with 240x320 ST7789 TFT, physical buttons, and hardware interlock gate pin (GPIO 27).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4. Operator Dashboard (Web): </a:t>
            </a:r>
            <a:r>
              <a:rPr sz="1300" b="0">
                <a:solidFill>
                  <a:srgbClr val="334155"/>
                </a:solidFill>
                <a:latin typeface="Calibri"/>
              </a:rPr>
              <a:t>Real-time audit interface streaming live WebSocket telemetry, hardware health, and historical decision traces.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Execution Lifecycle &amp; Failure Semantics: </a:t>
            </a:r>
            <a:r>
              <a:rPr sz="1400" b="0">
                <a:solidFill>
                  <a:srgbClr val="334155"/>
                </a:solidFill>
                <a:latin typeface="Calibri"/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Safe Calls: </a:t>
            </a:r>
            <a:r>
              <a:rPr sz="1300" b="0">
                <a:solidFill>
                  <a:srgbClr val="334155"/>
                </a:solidFill>
                <a:latin typeface="Calibri"/>
              </a:rPr>
              <a:t>Transparent passthrough to Gemini 2.0 Flash in &lt;50 ms.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Policy Violation: </a:t>
            </a:r>
            <a:r>
              <a:rPr sz="1300" b="0">
                <a:solidFill>
                  <a:srgbClr val="334155"/>
                </a:solidFill>
                <a:latin typeface="Calibri"/>
              </a:rPr>
              <a:t>Paused mid-flight; CHALLENGE emitted to hardware over /ws/deck.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ALLOW vs KILL: </a:t>
            </a:r>
            <a:r>
              <a:rPr sz="1300" b="0">
                <a:solidFill>
                  <a:srgbClr val="334155"/>
                </a:solidFill>
                <a:latin typeface="Calibri"/>
              </a:rPr>
              <a:t>ALLOW forwards upstream (GPIO 27 HIGH); KILL terminates with HTTP 403 HARDWARE_DENIED (GPIO 27 LOW).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Fail-Closed Timeout: </a:t>
            </a:r>
            <a:r>
              <a:rPr sz="1300" b="0">
                <a:solidFill>
                  <a:srgbClr val="334155"/>
                </a:solidFill>
                <a:latin typeface="Calibri"/>
              </a:rPr>
              <a:t>30s countdown expiry auto-aborts with HTTP 408 HARDWARE_TIMEOUT.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50292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05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FDFD-C117-F3E3-8ED3-D9F1AA6A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&amp;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E08E8-9697-C2B5-6EE5-B379F440B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Edge Hardware &amp; Firmware Subsystem (ESP32): </a:t>
            </a:r>
            <a:r>
              <a:rPr sz="1500" b="0">
                <a:solidFill>
                  <a:srgbClr val="334155"/>
                </a:solidFill>
                <a:latin typeface="Calibri"/>
              </a:rPr>
              <a:t/>
            </a:r>
            <a:endParaRPr lang="en-IN"/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Target SoC: </a:t>
            </a:r>
            <a:r>
              <a:rPr sz="1400" b="0">
                <a:solidFill>
                  <a:srgbClr val="334155"/>
                </a:solidFill>
                <a:latin typeface="Calibri"/>
              </a:rPr>
              <a:t>Espressif ESP32-D0WD-V3 (Dual-Core 240MHz, 320 KB SRAM, 4 MB Flash, Arduino Framework, PlatformIO).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Display Engine: </a:t>
            </a:r>
            <a:r>
              <a:rPr sz="1400" b="0">
                <a:solidFill>
                  <a:srgbClr val="334155"/>
                </a:solidFill>
                <a:latin typeface="Calibri"/>
              </a:rPr>
              <a:t>TPM408-2.8 240x320 SPI TFT (ST7789 driver) @ 40MHz SPI bus with scanline line-buffered DMA bursts (drawRGBBitmap &lt;1.5 ms per digit slot).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Memory Footprint: </a:t>
            </a:r>
            <a:r>
              <a:rPr sz="1400" b="0">
                <a:solidFill>
                  <a:srgbClr val="334155"/>
                </a:solidFill>
                <a:latin typeface="Calibri"/>
              </a:rPr>
              <a:t>RAM: 14.4% (47,124 / 327,680 bytes)  |  Flash: 75.6% (1,486,429 / 1,966,080 bytes on min_spiffs.csv). Over 470 KB headroom.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Output Interlock Gate: </a:t>
            </a:r>
            <a:r>
              <a:rPr sz="1400" b="0">
                <a:solidFill>
                  <a:srgbClr val="334155"/>
                </a:solidFill>
                <a:latin typeface="Calibri"/>
              </a:rPr>
              <a:t>GPIO 27 active-high hardware relay/gate; automatically isolates (0V) whenever deck disconnects or times out.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Non-Blocking Clock &amp; Particles: </a:t>
            </a:r>
            <a:r>
              <a:rPr sz="1400" b="0">
                <a:solidFill>
                  <a:srgbClr val="334155"/>
                </a:solidFill>
                <a:latin typeface="Calibri"/>
              </a:rPr>
              <a:t>SNTP time synchronization (IST UTC+5:30) with differential digit rendering (220x72 px) and 18-flake collision-aware snow.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Host &amp; Cloud Software Stack: </a:t>
            </a:r>
            <a:r>
              <a:rPr sz="1500" b="0">
                <a:solidFill>
                  <a:srgbClr val="334155"/>
                </a:solidFill>
                <a:latin typeface="Calibri"/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Security Proxy: </a:t>
            </a:r>
            <a:r>
              <a:rPr sz="1400" b="0">
                <a:solidFill>
                  <a:srgbClr val="334155"/>
                </a:solidFill>
                <a:latin typeface="Calibri"/>
              </a:rPr>
              <a:t>Node.js v20, Express, ws WebSocket multiplexer, high-resolution timer hold pool, regex/AST command tokenizer.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Agent CLI Terminal: </a:t>
            </a:r>
            <a:r>
              <a:rPr sz="1400" b="0">
                <a:solidFill>
                  <a:srgbClr val="334155"/>
                </a:solidFill>
                <a:latin typeface="Calibri"/>
              </a:rPr>
              <a:t>Python 3.11, Rich interactive UI formatting, OpenAI SDK client wrapper, tool schema execution boundary.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Operator Dashboard: </a:t>
            </a:r>
            <a:r>
              <a:rPr sz="1400" b="0">
                <a:solidFill>
                  <a:srgbClr val="334155"/>
                </a:solidFill>
                <a:latin typeface="Calibri"/>
              </a:rPr>
              <a:t>HTML5/CSS3/ES6 JavaScript, real-time WebSocket telemetry listener, audit event ledger.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Upstream AI Model: </a:t>
            </a:r>
            <a:r>
              <a:rPr sz="1400" b="0">
                <a:solidFill>
                  <a:srgbClr val="334155"/>
                </a:solidFill>
                <a:latin typeface="Calibri"/>
              </a:rPr>
              <a:t>Google Gemini 2.0 Flash via OpenAI-compatible chat.completions endpoint.</a:t>
            </a:r>
          </a:p>
        </p:txBody>
      </p:sp>
    </p:spTree>
    <p:extLst>
      <p:ext uri="{BB962C8B-B14F-4D97-AF65-F5344CB8AC3E}">
        <p14:creationId xmlns:p14="http://schemas.microsoft.com/office/powerpoint/2010/main" val="3881684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67F9-C547-59EC-1A1B-A6064E9EB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9F05A-3CAF-B2B2-37EA-B95136680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45920"/>
            <a:ext cx="6858000" cy="475488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1. Zero-Exposure Credential Security: </a:t>
            </a:r>
            <a:r>
              <a:rPr sz="1300" b="0">
                <a:solidFill>
                  <a:srgbClr val="334155"/>
                </a:solidFill>
                <a:latin typeface="Calibri"/>
              </a:rPr>
              <a:t>API keys remain locked in the proxy vault. Host laptops hold only dummy tokens; compromised local processes cannot leak upstream secrets.</a:t>
            </a:r>
            <a:endParaRPr lang="en-IN"/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2. Real-Time Policy Interception (&lt;50ms): </a:t>
            </a:r>
            <a:r>
              <a:rPr sz="1300" b="0">
                <a:solidFill>
                  <a:srgbClr val="334155"/>
                </a:solidFill>
                <a:latin typeface="Calibri"/>
              </a:rPr>
              <a:t>Evaluates agent tool-call payloads against destructive command denylists (rm -rf, DROP TABLE, mkfs, unauthorized chmod) in &lt;1 ms.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3. Physical Emergency Stop (KILL): </a:t>
            </a:r>
            <a:r>
              <a:rPr sz="1300" b="0">
                <a:solidFill>
                  <a:srgbClr val="334155"/>
                </a:solidFill>
                <a:latin typeface="Calibri"/>
              </a:rPr>
              <a:t>Hardware tactile button triggers immediate HTTP 403 rejection, physically locks the GPIO 27 gate pin to 0V, and prevents accidental damage.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4. Financial Velocity Braking: </a:t>
            </a:r>
            <a:r>
              <a:rPr sz="1300" b="0">
                <a:solidFill>
                  <a:srgbClr val="334155"/>
                </a:solidFill>
                <a:latin typeface="Calibri"/>
              </a:rPr>
              <a:t>Tracks cumulative dollar spend against hard ceilings ($2.50). Trips an automatic freeze if agent token burn velocity spikes unexpectedly.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5. Glanceable Pixel-Art Human State Engine: </a:t>
            </a:r>
            <a:r>
              <a:rPr sz="1300" b="0">
                <a:solidFill>
                  <a:srgbClr val="334155"/>
                </a:solidFill>
                <a:latin typeface="Calibri"/>
              </a:rPr>
              <a:t>16-bit retro artwork renders distinct operational states: Idle (2x digital clock &amp; snow), Challenge (Ice Bear battle stance &amp; 30s countdown), and Kill (Axe Cleave with red 'EXECUTION BLOCKED' pill).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6. Tamper-Evident Audit Logging: </a:t>
            </a:r>
            <a:r>
              <a:rPr sz="1300" b="0">
                <a:solidFill>
                  <a:srgbClr val="334155"/>
                </a:solidFill>
                <a:latin typeface="Calibri"/>
              </a:rPr>
              <a:t>Every interception, operator decision, timestamp, and raw payload is broadcast over WebSocket and archived for security review.</a:t>
            </a:r>
          </a:p>
        </p:txBody>
      </p:sp>
      <p:pic>
        <p:nvPicPr>
          <p:cNvPr id="4" name="Picture 3" descr="kill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920240"/>
            <a:ext cx="3474720" cy="463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18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3F462-10A5-E2A9-E9F9-38CBE530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/ Working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56B1C-5853-B29D-9784-D28B33F20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Live Hardware Demonstration Setup: </a:t>
            </a:r>
            <a:r>
              <a:rPr sz="1600" b="0">
                <a:solidFill>
                  <a:srgbClr val="334155"/>
                </a:solidFill>
                <a:latin typeface="Calibri"/>
              </a:rPr>
              <a:t/>
            </a:r>
            <a:endParaRPr lang="en-IN"/>
          </a:p>
          <a:p>
            <a:pPr lvl="1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Bench Configuration: </a:t>
            </a:r>
            <a:r>
              <a:rPr sz="1500" b="0">
                <a:solidFill>
                  <a:srgbClr val="334155"/>
                </a:solidFill>
                <a:latin typeface="Calibri"/>
              </a:rPr>
              <a:t>Physical ESP32 Hardware Deck (COM7 / Wi-Fi) + Local Agent CLI Terminal + Real-Time Operator Dashboard.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Demonstration Scenarios Executed On-Stage: </a:t>
            </a:r>
            <a:r>
              <a:rPr sz="1600" b="0">
                <a:solidFill>
                  <a:srgbClr val="334155"/>
                </a:solidFill>
                <a:latin typeface="Calibri"/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1. Benign Operations (Transparent Passthrough): </a:t>
            </a:r>
            <a:r>
              <a:rPr sz="1400" b="0">
                <a:solidFill>
                  <a:srgbClr val="334155"/>
                </a:solidFill>
                <a:latin typeface="Calibri"/>
              </a:rPr>
              <a:t>Agent reads project files and makes harmless code edits. Operations execute at wire speed with zero interruption.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2. High-Stakes Interception ('rm -rf ./database'): </a:t>
            </a:r>
            <a:r>
              <a:rPr sz="1400" b="0">
                <a:solidFill>
                  <a:srgbClr val="334155"/>
                </a:solidFill>
                <a:latin typeface="Calibri"/>
              </a:rPr>
              <a:t>Agent attempts destructive filesystem command. Request instantly freezes mid-flight; physical ESP32 deck lights up with red alert and 30s countdown.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3. Operator Physical KILL Decision: </a:t>
            </a:r>
            <a:r>
              <a:rPr sz="1400" b="0">
                <a:solidFill>
                  <a:srgbClr val="334155"/>
                </a:solidFill>
                <a:latin typeface="Calibri"/>
              </a:rPr>
              <a:t>Operator presses the physical KILL button (GPIO 14). Terminal aborts with HTTP 403; hardware deck displays pixel-art 'EXECUTION BLOCKED'; GPIO 27 gate isolated.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4. Fail-Closed Proof: </a:t>
            </a:r>
            <a:r>
              <a:rPr sz="1400" b="0">
                <a:solidFill>
                  <a:srgbClr val="334155"/>
                </a:solidFill>
                <a:latin typeface="Calibri"/>
              </a:rPr>
              <a:t>Disconnecting the hardware causes any subsequent risky actions to fail immediately (HTTP 503 HARDWARE_OFFLINE).</a:t>
            </a:r>
          </a:p>
        </p:txBody>
      </p:sp>
    </p:spTree>
    <p:extLst>
      <p:ext uri="{BB962C8B-B14F-4D97-AF65-F5344CB8AC3E}">
        <p14:creationId xmlns:p14="http://schemas.microsoft.com/office/powerpoint/2010/main" val="4227693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2492-00A2-7FB4-B66B-D17C854A8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29E41-A195-23FC-428C-13A58C021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1. Hardware Cryptographic Decision Signing (HMAC-SHA256): </a:t>
            </a:r>
            <a:r>
              <a:rPr sz="1400" b="0">
                <a:solidFill>
                  <a:srgbClr val="334155"/>
                </a:solidFill>
                <a:latin typeface="Calibri"/>
              </a:rPr>
              <a:t>Integrate an ATECC608A secure element onto the deck to cryptographically sign every ALLOW/KILL decision with on-chip hardware private keys, preventing bus-level spoofing.</a:t>
            </a:r>
            <a:endParaRPr lang="en-IN"/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2. Stepped Rotary Encoder for Deep Payload Inspection: </a:t>
            </a:r>
            <a:r>
              <a:rPr sz="1400" b="0">
                <a:solidFill>
                  <a:srgbClr val="334155"/>
                </a:solidFill>
                <a:latin typeface="Calibri"/>
              </a:rPr>
              <a:t>Add a rotary dial allowing developers to scroll through multi-line diffs, code patches, and SQL migrations directly on the 2.8" display before authorizing.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3. Enterprise Multi-Signature Hardware Mesh: </a:t>
            </a:r>
            <a:r>
              <a:rPr sz="1400" b="0">
                <a:solidFill>
                  <a:srgbClr val="334155"/>
                </a:solidFill>
                <a:latin typeface="Calibri"/>
              </a:rPr>
              <a:t>Deploy multi-deck consensus policies where high-blast-radius actions (production database migrations, AWS infrastructure teardowns) require physical dual-key confirmation.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4. On-Device TinyML Consequence Predictor: </a:t>
            </a:r>
            <a:r>
              <a:rPr sz="1400" b="0">
                <a:solidFill>
                  <a:srgbClr val="334155"/>
                </a:solidFill>
                <a:latin typeface="Calibri"/>
              </a:rPr>
              <a:t>Deploy quantized Edge AI models directly onto the ESP32-S3 (TensorFlow Lite for Microcontrollers) to evaluate blast-radius and anomaly scores on-device completely offline.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5. Native IDE &amp; Agent Ecosystem Integrations: </a:t>
            </a:r>
            <a:r>
              <a:rPr sz="1400" b="0">
                <a:solidFill>
                  <a:srgbClr val="334155"/>
                </a:solidFill>
                <a:latin typeface="Calibri"/>
              </a:rPr>
              <a:t>Provide drop-in plugins for Cursor, Claude Code, Windsurf, and VS Code, routing all background agent actions through the physical deck.</a:t>
            </a:r>
          </a:p>
        </p:txBody>
      </p:sp>
    </p:spTree>
    <p:extLst>
      <p:ext uri="{BB962C8B-B14F-4D97-AF65-F5344CB8AC3E}">
        <p14:creationId xmlns:p14="http://schemas.microsoft.com/office/powerpoint/2010/main" val="3266645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CED3-35B1-3212-AC39-10960706F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E18D8-68C0-5493-F934-C67A08032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Closing the Autonomous Agent Safety Gap: </a:t>
            </a:r>
            <a:r>
              <a:rPr sz="1600" b="0">
                <a:solidFill>
                  <a:srgbClr val="334155"/>
                </a:solidFill>
                <a:latin typeface="Calibri"/>
              </a:rPr>
              <a:t/>
            </a:r>
            <a:endParaRPr lang="en-IN"/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The Human Remains in Physical Authority: </a:t>
            </a:r>
            <a:r>
              <a:rPr sz="1400" b="0">
                <a:solidFill>
                  <a:srgbClr val="334155"/>
                </a:solidFill>
                <a:latin typeface="Calibri"/>
              </a:rPr>
              <a:t>KernelDeck proves that software agents can operate at high velocity without relinquishing developer control. By decoupling the security gate into dedicated hardware, safety is guaranteed in silicon.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Out-of-Band Security is Non-Negotiable: </a:t>
            </a:r>
            <a:r>
              <a:rPr sz="1400" b="0">
                <a:solidFill>
                  <a:srgbClr val="334155"/>
                </a:solidFill>
                <a:latin typeface="Calibri"/>
              </a:rPr>
              <a:t>"You cannot code-review your way out of a locked door." Effective oversight cannot share the same memory, processes, or operating system as the agent being supervised.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Frictionless Developer Experience: </a:t>
            </a:r>
            <a:r>
              <a:rPr sz="1400" b="0">
                <a:solidFill>
                  <a:srgbClr val="334155"/>
                </a:solidFill>
                <a:latin typeface="Calibri"/>
              </a:rPr>
              <a:t>Safe requests pass transparently at wire speed (&lt;50 ms); physical attention is demanded only when predetermined risk thresholds are violated.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Summary of Achievements: </a:t>
            </a:r>
            <a:r>
              <a:rPr sz="1600" b="0">
                <a:solidFill>
                  <a:srgbClr val="334155"/>
                </a:solidFill>
                <a:latin typeface="Calibri"/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Fully Operational Production Prototype: </a:t>
            </a:r>
            <a:r>
              <a:rPr sz="1400" b="0">
                <a:solidFill>
                  <a:srgbClr val="334155"/>
                </a:solidFill>
                <a:latin typeface="Calibri"/>
              </a:rPr>
              <a:t>Integrated ESP32 firmware, Node.js proxy, Python Agent CLI, and live Web Dashboard fully tested and verified.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Rigorous Safety Integrity: </a:t>
            </a:r>
            <a:r>
              <a:rPr sz="1400" b="0">
                <a:solidFill>
                  <a:srgbClr val="334155"/>
                </a:solidFill>
                <a:latin typeface="Calibri"/>
              </a:rPr>
              <a:t>Tested and proven against real destructive filesystem commands with 100% fail-closed reliability.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Calibri"/>
              </a:rPr>
              <a:t>KernelDeck: Making Autonomous AI Development Safer By Design. </a:t>
            </a:r>
            <a:r>
              <a:rPr sz="16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96610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2007-B009-3B7C-1CB8-958B2BF4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Evidence &amp; Track Alignment (Rubric Compliance)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457CC9-5A7C-840D-1679-10C32B13A7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737380"/>
              </p:ext>
            </p:extLst>
          </p:nvPr>
        </p:nvGraphicFramePr>
        <p:xfrm>
          <a:off x="838200" y="2401094"/>
          <a:ext cx="1051560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0071">
                  <a:extLst>
                    <a:ext uri="{9D8B030D-6E8A-4147-A177-3AD203B41FA5}">
                      <a16:colId xmlns:a16="http://schemas.microsoft.com/office/drawing/2014/main" val="3275587556"/>
                    </a:ext>
                  </a:extLst>
                </a:gridCol>
                <a:gridCol w="7735529">
                  <a:extLst>
                    <a:ext uri="{9D8B030D-6E8A-4147-A177-3AD203B41FA5}">
                      <a16:colId xmlns:a16="http://schemas.microsoft.com/office/drawing/2014/main" val="1871699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Required technical evidence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41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Agentic AI</a:t>
                      </a: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(Primary Track)</a:t>
                      </a: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Required:</a:t>
                      </a: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Agent workflow, tools &amp; integrations, task execution, and failure handling.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• Workflow: Full OpenAI-compatible chat.completions tool-calling loop; requests held mid-flight.</a:t>
                      </a:r>
                    </a:p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• Tools &amp; Integrations: Shell command executor, filesystem boundary, proxy middleware, WebSocket multiplexer.</a:t>
                      </a:r>
                    </a:p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• Task Execution: Preview-before-commit gating with 30s TTL hold pool and real-time dashboard audit trail.</a:t>
                      </a:r>
                    </a:p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• Failure Handling: Strict fail-closed semantics (HARDWARE_DENIED 403, HARDWARE_OFFLINE 503, HARDWARE_TIMEOUT 408).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578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Edge AI</a:t>
                      </a: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(Hardware Interlock)</a:t>
                      </a: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Required:</a:t>
                      </a: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Target device, on-device latency, memory/resource usage, and offline capability.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• Target Device: Espressif ESP32 Dev Module (240MHz Xtensa LX6, TPM408-2.8 ST7789 TFT display).</a:t>
                      </a:r>
                    </a:p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• Latency: &lt;1.5 ms display scanline DMA burst, 35ms button debounce, &lt;50 ms WebSocket round-trip.</a:t>
                      </a:r>
                    </a:p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• Resource Usage: RAM: 14.4% (47 KB / 328 KB) | Flash: 75.6% (1.48 MB / 1.96 MB on min_spiffs.csv).</a:t>
                      </a:r>
                    </a:p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• Offline Capability: Physical relay gate (GPIO 27) maintains 0V fail-closed isolation whenever disconnected.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385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AI Safety &amp;</a:t>
                      </a: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Governance</a:t>
                      </a: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Required:</a:t>
                      </a: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Consequence simulation, spend controls, and auditable human oversight.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• Consequence Preview: Dangerous commands previewed on out-of-band screen before execution.</a:t>
                      </a:r>
                    </a:p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• Spend Velocity Braking: Hard token cost ceiling ($2.50) automatically halts runaway agent loops.</a:t>
                      </a:r>
                    </a:p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• Audit Trail: WebSocket event ledger records all tool calls, timestamps, and physical decisions.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507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Physical</a:t>
                      </a: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Security Enclave</a:t>
                      </a: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Required:</a:t>
                      </a:r>
                    </a:p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Out-of-band authority and zero-trust credential isolation.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• Credential Vault: Real API keys locked in proxy vault; zero exposure to compromised local .env files.</a:t>
                      </a:r>
                    </a:p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• Hardware Isolation: Interlock enforced in silicon; impossible for malware to fake physical button press.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014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796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123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Team Name Problem Statement Title</vt:lpstr>
      <vt:lpstr>Problem Statement &amp; Objectives</vt:lpstr>
      <vt:lpstr>Proposed Solution &amp; Key Innovation</vt:lpstr>
      <vt:lpstr>System Architecture &amp; Workflow</vt:lpstr>
      <vt:lpstr>Technology Stack &amp; Implementation</vt:lpstr>
      <vt:lpstr>Key Features &amp; Functionalities</vt:lpstr>
      <vt:lpstr>Live Demo / Working Prototype</vt:lpstr>
      <vt:lpstr>Future Scope</vt:lpstr>
      <vt:lpstr>Conclusion</vt:lpstr>
      <vt:lpstr>include the following evidence in relevant technical slides as well as per track selected.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ASHHMAN SODHI</dc:creator>
  <cp:lastModifiedBy>ASHHMAN SODHI</cp:lastModifiedBy>
  <cp:revision>1</cp:revision>
  <dcterms:created xsi:type="dcterms:W3CDTF">2026-10-24T21:22:49Z</dcterms:created>
  <dcterms:modified xsi:type="dcterms:W3CDTF">2026-10-24T21:25:40Z</dcterms:modified>
</cp:coreProperties>
</file>